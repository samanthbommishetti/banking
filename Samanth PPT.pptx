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E0805-54D8-4D70-8C9B-8F8A2F47FD54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4DA8A-3752-4A1E-B2C9-D209F4D738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97637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E0805-54D8-4D70-8C9B-8F8A2F47FD54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4DA8A-3752-4A1E-B2C9-D209F4D738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6775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E0805-54D8-4D70-8C9B-8F8A2F47FD54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4DA8A-3752-4A1E-B2C9-D209F4D738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3987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E0805-54D8-4D70-8C9B-8F8A2F47FD54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4DA8A-3752-4A1E-B2C9-D209F4D738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4779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E0805-54D8-4D70-8C9B-8F8A2F47FD54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4DA8A-3752-4A1E-B2C9-D209F4D738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09703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E0805-54D8-4D70-8C9B-8F8A2F47FD54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4DA8A-3752-4A1E-B2C9-D209F4D738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07726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E0805-54D8-4D70-8C9B-8F8A2F47FD54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4DA8A-3752-4A1E-B2C9-D209F4D738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01490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E0805-54D8-4D70-8C9B-8F8A2F47FD54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4DA8A-3752-4A1E-B2C9-D209F4D738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55309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E0805-54D8-4D70-8C9B-8F8A2F47FD54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4DA8A-3752-4A1E-B2C9-D209F4D738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9688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E0805-54D8-4D70-8C9B-8F8A2F47FD54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4DA8A-3752-4A1E-B2C9-D209F4D738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55533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E0805-54D8-4D70-8C9B-8F8A2F47FD54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4DA8A-3752-4A1E-B2C9-D209F4D7382F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476020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E0805-54D8-4D70-8C9B-8F8A2F47FD54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4DA8A-3752-4A1E-B2C9-D209F4D738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0606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E0805-54D8-4D70-8C9B-8F8A2F47FD54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4DA8A-3752-4A1E-B2C9-D209F4D7382F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203201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E0805-54D8-4D70-8C9B-8F8A2F47FD54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4DA8A-3752-4A1E-B2C9-D209F4D738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93628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E0805-54D8-4D70-8C9B-8F8A2F47FD54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4DA8A-3752-4A1E-B2C9-D209F4D738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44907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E0805-54D8-4D70-8C9B-8F8A2F47FD54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4DA8A-3752-4A1E-B2C9-D209F4D738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3249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BE0805-54D8-4D70-8C9B-8F8A2F47FD54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3D94DA8A-3752-4A1E-B2C9-D209F4D738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3233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A67DB-CD84-1870-F8E6-88608D4FF4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047557"/>
          </a:xfrm>
        </p:spPr>
        <p:txBody>
          <a:bodyPr>
            <a:normAutofit/>
          </a:bodyPr>
          <a:lstStyle/>
          <a:p>
            <a:r>
              <a:rPr lang="en-IN" sz="3600" b="1" dirty="0">
                <a:effectLst/>
              </a:rPr>
              <a:t>Azure Bank Modernization Initiative: End-to-End Banking Data Platform</a:t>
            </a:r>
            <a:br>
              <a:rPr lang="en-IN" dirty="0">
                <a:effectLst/>
              </a:rPr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99FAE71-05BE-67D2-9C1D-DE7DBB350A6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508000" y="4116913"/>
            <a:ext cx="1121755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Modernizing Banking Data Infrastructure with Azure, Data Engineering, Python,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PySpark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CI/CD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Presenter: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Samanth</a:t>
            </a:r>
            <a:r>
              <a:rPr lang="en-US" alt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8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Bommishetti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85894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B0049-E87F-28A7-A6DB-0EB3C10E8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38373"/>
          </a:xfrm>
        </p:spPr>
        <p:txBody>
          <a:bodyPr/>
          <a:lstStyle/>
          <a:p>
            <a:r>
              <a:rPr lang="en-IN" b="1" dirty="0">
                <a:effectLst/>
              </a:rPr>
              <a:t>Project Overview</a:t>
            </a:r>
            <a:endParaRPr lang="en-IN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52E4B4F-67DD-9A66-CDAA-9A7B8EFE031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431636"/>
            <a:ext cx="9310626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Core Subject: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Banking Data Platform Development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Goal: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Modernize bank's data infrastructure for unified data view, real-time risk mitigation,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customer insights, regulatory compliance, security, and operational excellence 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Duration: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5 Days (Conceptual Timeline)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Approach: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Lambda architecture combining real-time streams and batch processing 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Visual: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High-level diagram showing data flow from sources to analytics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(e.g., ATMs → Event Grid → Cosmos DB → Data Warehouse → Dashboards) .</a:t>
            </a:r>
          </a:p>
        </p:txBody>
      </p:sp>
    </p:spTree>
    <p:extLst>
      <p:ext uri="{BB962C8B-B14F-4D97-AF65-F5344CB8AC3E}">
        <p14:creationId xmlns:p14="http://schemas.microsoft.com/office/powerpoint/2010/main" val="7520701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DB494-D1AA-FE58-7C2A-037F749E4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3824"/>
          </a:xfrm>
        </p:spPr>
        <p:txBody>
          <a:bodyPr>
            <a:normAutofit fontScale="90000"/>
          </a:bodyPr>
          <a:lstStyle/>
          <a:p>
            <a:r>
              <a:rPr lang="en-IN" b="1" dirty="0">
                <a:effectLst/>
              </a:rPr>
              <a:t>Business Objectives</a:t>
            </a:r>
            <a:br>
              <a:rPr lang="en-IN" dirty="0">
                <a:effectLst/>
              </a:rPr>
            </a:b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A52CEEB-3726-98A0-4E21-16F22491DEA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36765644"/>
              </p:ext>
            </p:extLst>
          </p:nvPr>
        </p:nvGraphicFramePr>
        <p:xfrm>
          <a:off x="838200" y="1680694"/>
          <a:ext cx="10515600" cy="393192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94968170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2118474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Objective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Key Outcome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57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Unified Data View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Combine transactions from ATMs, mobile banking, and UPI gateways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30549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Real-Time Risk Mitigation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Detect financial fraud in near real-time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6343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Customer Insights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Build a comprehensive Customer-360 profile for better service and marketing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60496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Regulatory Compliance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Create a data warehouse for financial and RBI compliance reporting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90746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Security &amp; Governance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Secure the platform using enterprise-grade networking (Juniper/Azure Firewall)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88135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Operational Excellence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Build end-to-end CI/CD automation for rapid, reliable deployments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00058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28048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C239E-CF89-5957-8F0E-B5B59EFD9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273685"/>
            <a:ext cx="10515600" cy="894715"/>
          </a:xfrm>
        </p:spPr>
        <p:txBody>
          <a:bodyPr>
            <a:normAutofit fontScale="90000"/>
          </a:bodyPr>
          <a:lstStyle/>
          <a:p>
            <a:r>
              <a:rPr lang="en-IN" b="1" dirty="0">
                <a:effectLst/>
              </a:rPr>
              <a:t>Technologies Utilized</a:t>
            </a:r>
            <a:br>
              <a:rPr lang="en-IN" dirty="0">
                <a:effectLst/>
              </a:rPr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BDFEFA7-0ACA-FF3E-26B6-468A724DEE0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805387"/>
            <a:ext cx="9267473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Cloud Services: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Azure Functions, Blob Storage, ADLS Gen2, Azure SQL, Cosmos DB,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Azure Event Grid, Azure Service Bus.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Processing: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Python,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PySpark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DevOps: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CI/CD (GitHub Actions/Azure DevOps)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Monitoring: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App Insights/Log Analytics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Security: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Juniper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vSRX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/Azure Networking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Visual: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Logos of key technologies arranged in a grid or flowchart </a:t>
            </a:r>
          </a:p>
        </p:txBody>
      </p:sp>
    </p:spTree>
    <p:extLst>
      <p:ext uri="{BB962C8B-B14F-4D97-AF65-F5344CB8AC3E}">
        <p14:creationId xmlns:p14="http://schemas.microsoft.com/office/powerpoint/2010/main" val="362459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F8D20-BD0B-7D02-BB96-4258D4D20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effectLst/>
              </a:rPr>
              <a:t>Day 1 - Architecture &amp; Data Ingestion Layer</a:t>
            </a:r>
            <a:br>
              <a:rPr lang="en-US" dirty="0">
                <a:effectLst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7D3CF6-A8CA-3170-14A4-C83C09E5FA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IN" sz="1800" b="1" dirty="0">
              <a:effectLst/>
            </a:endParaRPr>
          </a:p>
          <a:p>
            <a:endParaRPr lang="en-IN" sz="1800" b="1" dirty="0">
              <a:effectLst/>
            </a:endParaRPr>
          </a:p>
          <a:p>
            <a:endParaRPr lang="en-IN" sz="1100" b="1" dirty="0">
              <a:effectLst/>
            </a:endParaRPr>
          </a:p>
          <a:p>
            <a:endParaRPr lang="en-US" sz="1800" dirty="0">
              <a:effectLst/>
            </a:endParaRPr>
          </a:p>
          <a:p>
            <a:endParaRPr lang="en-US" sz="1800" dirty="0">
              <a:effectLst/>
            </a:endParaRPr>
          </a:p>
          <a:p>
            <a:endParaRPr lang="en-IN" sz="1400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3B80C5E-F83A-ADC6-1382-900F87DBFC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369508"/>
              </p:ext>
            </p:extLst>
          </p:nvPr>
        </p:nvGraphicFramePr>
        <p:xfrm>
          <a:off x="838200" y="1371600"/>
          <a:ext cx="10515600" cy="4732815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83324738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74864593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61310867"/>
                    </a:ext>
                  </a:extLst>
                </a:gridCol>
              </a:tblGrid>
              <a:tr h="4115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Component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Function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 Flow 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5290043"/>
                  </a:ext>
                </a:extLst>
              </a:tr>
              <a:tr h="7202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Real-Time Stream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Event-Driven Ingestion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ATM/UPI logs → Event Grid → Azure Function → Cosmos DB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8693775"/>
                  </a:ext>
                </a:extLst>
              </a:tr>
              <a:tr h="7202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Batch Ingestion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Bulk Data Handling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Core banking batch files → Blob Storage/ADLS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0804560"/>
                  </a:ext>
                </a:extLst>
              </a:tr>
              <a:tr h="7202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Master Data Store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Reference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Customer master → Azure SQL Database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6168912"/>
                  </a:ext>
                </a:extLst>
              </a:tr>
              <a:tr h="7202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ETL &amp; Transformation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 Processing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PySpark ETL → Synapse / Azure SQL DWH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7318636"/>
                  </a:ext>
                </a:extLst>
              </a:tr>
              <a:tr h="7202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Security Monitoring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Network Segmentation / Observability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Juniper vSRX firewall; Azure Application Insights + Log Analytics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9341400"/>
                  </a:ext>
                </a:extLst>
              </a:tr>
              <a:tr h="7202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Automation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Deployment Pipeline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CI/CD via GitHub Actions or Azure DevOps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63398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1430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9F7AEAA-A390-9CFA-FBD8-8A7D98A017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4800"/>
            <a:ext cx="10515600" cy="5872163"/>
          </a:xfrm>
        </p:spPr>
        <p:txBody>
          <a:bodyPr/>
          <a:lstStyle/>
          <a:p>
            <a:r>
              <a:rPr lang="en-US" b="1" dirty="0">
                <a:effectLst/>
              </a:rPr>
              <a:t>Architectural Overview: </a:t>
            </a:r>
            <a:r>
              <a:rPr lang="en-US" dirty="0">
                <a:effectLst/>
              </a:rPr>
              <a:t>Lambda architecture with real-time streams and batch processing.</a:t>
            </a:r>
          </a:p>
          <a:p>
            <a:r>
              <a:rPr lang="en-US" b="1" dirty="0"/>
              <a:t>Source Systems: </a:t>
            </a:r>
            <a:r>
              <a:rPr lang="en-US" dirty="0">
                <a:effectLst/>
              </a:rPr>
              <a:t>Real-time (ATM logs, UPI events, mobile logins); Batch (CSV extracts, account data, KYC docs)</a:t>
            </a:r>
          </a:p>
          <a:p>
            <a:r>
              <a:rPr lang="en-US" b="1" dirty="0">
                <a:effectLst/>
              </a:rPr>
              <a:t>Setup Tasks: </a:t>
            </a:r>
            <a:r>
              <a:rPr lang="en-US" dirty="0">
                <a:effectLst/>
              </a:rPr>
              <a:t>Create ADLS containers, configure Event Grid, setup Service Bus, build Python Function, network setup</a:t>
            </a:r>
          </a:p>
          <a:p>
            <a:r>
              <a:rPr lang="en-US" b="1" dirty="0">
                <a:effectLst/>
              </a:rPr>
              <a:t>Visual: </a:t>
            </a:r>
            <a:r>
              <a:rPr lang="en-US" dirty="0">
                <a:effectLst/>
              </a:rPr>
              <a:t>Detailed architecture diagram with arrows showing data paths</a:t>
            </a:r>
          </a:p>
          <a:p>
            <a:pPr marL="0" indent="0">
              <a:buNone/>
            </a:pPr>
            <a:endParaRPr lang="en-US" b="1" dirty="0">
              <a:effectLst/>
            </a:endParaRPr>
          </a:p>
          <a:p>
            <a:endParaRPr lang="en-US" sz="1600" dirty="0">
              <a:effectLst/>
            </a:endParaRPr>
          </a:p>
          <a:p>
            <a:pPr marL="0" indent="0">
              <a:buNone/>
            </a:pPr>
            <a:endParaRPr lang="en-US" sz="1600" dirty="0">
              <a:effectLst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034688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2BAAA-CEDC-FE55-74A9-303BC97B9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effectLst/>
              </a:rPr>
              <a:t>Day 2 –Transformation Layer and NoSQL operational Store</a:t>
            </a:r>
            <a:br>
              <a:rPr lang="en-US" sz="2000" dirty="0">
                <a:effectLst/>
              </a:rPr>
            </a:br>
            <a:endParaRPr lang="en-IN" sz="2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E5C23-D9EA-2BC4-5414-9F18A4BACB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000" b="1" dirty="0">
                <a:effectLst/>
              </a:rPr>
              <a:t>Queue-Triggered Azure Functions: </a:t>
            </a:r>
            <a:r>
              <a:rPr lang="en-IN" sz="2000" dirty="0">
                <a:effectLst/>
              </a:rPr>
              <a:t>Process events from Storage Queue – load files, validate schema, de-duplicate, classify transactions, detect suspicious patterns</a:t>
            </a:r>
          </a:p>
          <a:p>
            <a:r>
              <a:rPr lang="en-IN" sz="2000" b="1" dirty="0" err="1"/>
              <a:t>CosmosDB</a:t>
            </a:r>
            <a:r>
              <a:rPr lang="en-IN" sz="2000" b="1" dirty="0"/>
              <a:t>  Collection tables</a:t>
            </a:r>
            <a:r>
              <a:rPr lang="en-IN" sz="2000" dirty="0"/>
              <a:t>: </a:t>
            </a:r>
            <a:r>
              <a:rPr lang="en-IN" sz="2000" dirty="0" err="1"/>
              <a:t>Accountprofile,ATMtransactions,UPIEvents,FraudEvents</a:t>
            </a:r>
            <a:endParaRPr lang="en-IN" sz="2000" dirty="0">
              <a:effectLst/>
            </a:endParaRPr>
          </a:p>
          <a:p>
            <a:r>
              <a:rPr lang="en-IN" sz="2000" b="1" dirty="0" err="1"/>
              <a:t>Pyspark</a:t>
            </a:r>
            <a:r>
              <a:rPr lang="en-IN" sz="2000" b="1" dirty="0"/>
              <a:t> Data Clean Pipeline: </a:t>
            </a:r>
            <a:r>
              <a:rPr lang="en-US" sz="2000" dirty="0">
                <a:effectLst/>
              </a:rPr>
              <a:t>Ingestion from Cosmos DB/ADLS, normalization, merge into </a:t>
            </a:r>
            <a:r>
              <a:rPr lang="en-US" sz="2000" dirty="0" err="1">
                <a:effectLst/>
              </a:rPr>
              <a:t>Fact_Transactions</a:t>
            </a:r>
            <a:r>
              <a:rPr lang="en-US" sz="2000" dirty="0">
                <a:effectLst/>
              </a:rPr>
              <a:t>, write to Bronze/Silver/Gold layers</a:t>
            </a:r>
          </a:p>
          <a:p>
            <a:r>
              <a:rPr lang="en-IN" sz="2000" b="1" dirty="0">
                <a:effectLst/>
              </a:rPr>
              <a:t>Visual: </a:t>
            </a:r>
            <a:r>
              <a:rPr lang="en-IN" sz="2000" dirty="0">
                <a:effectLst/>
              </a:rPr>
              <a:t>Flowchart of transformation process (Queue → Function → Cosmos DB → </a:t>
            </a:r>
            <a:r>
              <a:rPr lang="en-IN" sz="2000" dirty="0" err="1">
                <a:effectLst/>
              </a:rPr>
              <a:t>PySpark</a:t>
            </a:r>
            <a:r>
              <a:rPr lang="en-IN" sz="2000" dirty="0">
                <a:effectLst/>
              </a:rPr>
              <a:t> → Delta Layers)</a:t>
            </a:r>
          </a:p>
          <a:p>
            <a:endParaRPr lang="en-IN" sz="1600" b="1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496625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16E3C-C83D-3428-F693-0CE35EB1A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/>
              </a:rPr>
              <a:t>Day 3 - Data Warehouse (Azure SQL)</a:t>
            </a:r>
            <a:endParaRPr lang="en-IN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A2DDB9D-5A14-7632-6BC8-D1B9A4603DA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431636"/>
            <a:ext cx="10759420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Dimensional Model (Star Schema):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Dimension Tables: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DimCustomer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(SCD Type 2),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DimAccount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DimBranch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DimProduct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DimDate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Fact Tables: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FactTransactions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FactFraudDetection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FactCustomerActivity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PySpark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ETL Jobs: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Load from Silver layer, apply business logic, use Delta Lake for MERGE/UPSERT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Synchronising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Data: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Using the Time</a:t>
            </a:r>
            <a:r>
              <a:rPr lang="en-US" altLang="en-US" sz="1800" dirty="0">
                <a:latin typeface="Arial" panose="020B0604020202020204" pitchFamily="34" charset="0"/>
              </a:rPr>
              <a:t> trigger functions for </a:t>
            </a:r>
            <a:r>
              <a:rPr lang="en-US" altLang="en-US" sz="1800" dirty="0" err="1">
                <a:latin typeface="Arial" panose="020B0604020202020204" pitchFamily="34" charset="0"/>
              </a:rPr>
              <a:t>acconts</a:t>
            </a:r>
            <a:r>
              <a:rPr lang="en-US" altLang="en-US" sz="1800" dirty="0">
                <a:latin typeface="Arial" panose="020B0604020202020204" pitchFamily="34" charset="0"/>
              </a:rPr>
              <a:t> and Customer Data.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35003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32B03-ABE6-7AB4-9C50-FBD684DC0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effectLst/>
              </a:rPr>
              <a:t>Day 4 - Real-Time Alerts &amp; CI/CD</a:t>
            </a:r>
            <a:br>
              <a:rPr lang="en-US" dirty="0">
                <a:effectLst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E47D70-8DE3-63F4-1D14-9489373256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>
                <a:effectLst/>
              </a:rPr>
              <a:t>Real-Time Fraud Alerts: </a:t>
            </a:r>
            <a:r>
              <a:rPr lang="en-IN" sz="2000" dirty="0">
                <a:effectLst/>
              </a:rPr>
              <a:t>Event Grid trigger for high-value transactions; Azure Function </a:t>
            </a:r>
            <a:r>
              <a:rPr lang="en-IN" sz="2000" dirty="0" err="1">
                <a:effectLst/>
              </a:rPr>
              <a:t>analyzes</a:t>
            </a:r>
            <a:r>
              <a:rPr lang="en-IN" sz="2000" dirty="0">
                <a:effectLst/>
              </a:rPr>
              <a:t> for anomalies (location, frequency, login patterns); Insert alerts to Cosmos DB and notify via Service Bus.</a:t>
            </a:r>
          </a:p>
          <a:p>
            <a:r>
              <a:rPr lang="en-IN" b="1" dirty="0"/>
              <a:t>CI/CD: </a:t>
            </a:r>
            <a:r>
              <a:rPr lang="en-IN" sz="2000" dirty="0"/>
              <a:t>Built the CI/CD workflows using the </a:t>
            </a:r>
            <a:r>
              <a:rPr lang="en-IN" sz="2000" dirty="0" err="1"/>
              <a:t>github</a:t>
            </a:r>
            <a:r>
              <a:rPr lang="en-IN" sz="2000" dirty="0"/>
              <a:t> workflows.</a:t>
            </a:r>
          </a:p>
          <a:p>
            <a:pPr marL="0" indent="0">
              <a:buNone/>
            </a:pPr>
            <a:endParaRPr lang="en-IN" b="1" dirty="0">
              <a:effectLst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342546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691EC-C9D5-0DB7-505A-3898DE30F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effectLst/>
              </a:rPr>
              <a:t>Day 5 - Reporting, Customer 360 &amp; Final Demo</a:t>
            </a:r>
            <a:br>
              <a:rPr lang="en-US" dirty="0">
                <a:effectLst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E59C19-F77D-2589-4ED6-D72D6A3099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000" dirty="0"/>
              <a:t>Built the </a:t>
            </a:r>
            <a:r>
              <a:rPr lang="en-IN" sz="2000" dirty="0" err="1"/>
              <a:t>PowerBi</a:t>
            </a:r>
            <a:r>
              <a:rPr lang="en-IN" sz="2000" dirty="0"/>
              <a:t> Dashboards by connecting to the Azure SQL.</a:t>
            </a:r>
          </a:p>
          <a:p>
            <a:r>
              <a:rPr lang="en-IN" sz="2000" dirty="0"/>
              <a:t>Built visuals on the fact and dimensions table .</a:t>
            </a:r>
          </a:p>
          <a:p>
            <a:r>
              <a:rPr lang="en-IN" sz="2000" b="1" dirty="0"/>
              <a:t>Key Insights: </a:t>
            </a:r>
            <a:r>
              <a:rPr lang="en-US" sz="2000" dirty="0">
                <a:effectLst/>
              </a:rPr>
              <a:t>Total balance, loan exposure, spend patterns, risk rating/fraud score</a:t>
            </a:r>
          </a:p>
          <a:p>
            <a:r>
              <a:rPr lang="en-IN" sz="2000" b="1" dirty="0"/>
              <a:t>Power Bi Dashboards: </a:t>
            </a:r>
            <a:r>
              <a:rPr lang="en-IN" sz="2000" dirty="0">
                <a:effectLst/>
              </a:rPr>
              <a:t>Branch Performance, Daily Transaction Volume, ATM/UPI Analysis, Fraud Analytics, RBI Compliance Reports</a:t>
            </a:r>
          </a:p>
          <a:p>
            <a:r>
              <a:rPr lang="en-IN" sz="2000" b="1" dirty="0">
                <a:effectLst/>
              </a:rPr>
              <a:t>Demo Scenario: </a:t>
            </a:r>
            <a:r>
              <a:rPr lang="en-US" sz="2000" dirty="0">
                <a:effectLst/>
              </a:rPr>
              <a:t>Ingestion of CSV, processing to Cosmos DB, </a:t>
            </a:r>
            <a:r>
              <a:rPr lang="en-US" sz="2000" dirty="0" err="1">
                <a:effectLst/>
              </a:rPr>
              <a:t>PySpark</a:t>
            </a:r>
            <a:r>
              <a:rPr lang="en-US" sz="2000" dirty="0">
                <a:effectLst/>
              </a:rPr>
              <a:t> to DW, dashboard update, fraud alert injection</a:t>
            </a:r>
          </a:p>
          <a:p>
            <a:endParaRPr lang="en-IN" sz="2000" b="1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213962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B4900-C455-B677-1FD3-0ABE5B675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effectLst/>
              </a:rPr>
              <a:t>Final Output &amp; Platform Capabilities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1FEA20-025D-F2C4-71AF-F20C88832B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sz="2000" b="1" dirty="0">
                <a:effectLst/>
              </a:rPr>
              <a:t>Data Ingestion and Processing: </a:t>
            </a:r>
            <a:r>
              <a:rPr lang="en-US" sz="2000" dirty="0">
                <a:effectLst/>
              </a:rPr>
              <a:t>Real-time pipeline (Event Grid/Service Bus), batch (ADF/</a:t>
            </a:r>
            <a:r>
              <a:rPr lang="en-US" sz="2000" dirty="0" err="1">
                <a:effectLst/>
              </a:rPr>
              <a:t>PySpark</a:t>
            </a:r>
            <a:r>
              <a:rPr lang="en-US" sz="2000" dirty="0">
                <a:effectLst/>
              </a:rPr>
              <a:t>), full ETL in </a:t>
            </a:r>
            <a:r>
              <a:rPr lang="en-US" sz="2000" dirty="0" err="1">
                <a:effectLst/>
              </a:rPr>
              <a:t>PySpark</a:t>
            </a:r>
            <a:r>
              <a:rPr lang="en-US" sz="2000" dirty="0">
                <a:effectLst/>
              </a:rPr>
              <a:t> (Bronze/Silver/Gold)</a:t>
            </a:r>
          </a:p>
          <a:p>
            <a:r>
              <a:rPr lang="en-IN" sz="2000" b="1" dirty="0">
                <a:effectLst/>
              </a:rPr>
              <a:t>Data Storage: </a:t>
            </a:r>
            <a:r>
              <a:rPr lang="en-US" sz="2000" dirty="0">
                <a:effectLst/>
              </a:rPr>
              <a:t>Cosmos DB for operational (low-latency), SQL DW for analytical (BI reporting)</a:t>
            </a:r>
          </a:p>
          <a:p>
            <a:r>
              <a:rPr lang="en-IN" sz="2000" b="1" dirty="0">
                <a:effectLst/>
              </a:rPr>
              <a:t>Advanced Capabilities: </a:t>
            </a:r>
            <a:r>
              <a:rPr lang="en-US" sz="2000" dirty="0">
                <a:effectLst/>
              </a:rPr>
              <a:t>Rule-based fraud detection, Customer 360 for personalization</a:t>
            </a:r>
          </a:p>
          <a:p>
            <a:r>
              <a:rPr lang="en-IN" sz="2000" b="1" dirty="0">
                <a:effectLst/>
              </a:rPr>
              <a:t>Deployment: </a:t>
            </a:r>
            <a:r>
              <a:rPr lang="en-US" sz="2000" dirty="0">
                <a:effectLst/>
              </a:rPr>
              <a:t>CI/CD automation (</a:t>
            </a:r>
            <a:r>
              <a:rPr lang="en-US" sz="2000" dirty="0" err="1">
                <a:effectLst/>
              </a:rPr>
              <a:t>GitOps</a:t>
            </a:r>
            <a:r>
              <a:rPr lang="en-US" sz="2000" dirty="0">
                <a:effectLst/>
              </a:rPr>
              <a:t>).</a:t>
            </a:r>
          </a:p>
          <a:p>
            <a:r>
              <a:rPr lang="en-IN" sz="2000" b="1" dirty="0">
                <a:effectLst/>
              </a:rPr>
              <a:t>Business Intelligence: </a:t>
            </a:r>
            <a:r>
              <a:rPr lang="en-US" sz="2000" dirty="0">
                <a:effectLst/>
              </a:rPr>
              <a:t>Interactive Power BI dashboards for insights and compliance</a:t>
            </a:r>
          </a:p>
          <a:p>
            <a:r>
              <a:rPr lang="en-IN" sz="2000" b="1" dirty="0">
                <a:effectLst/>
              </a:rPr>
              <a:t>Visual: </a:t>
            </a:r>
            <a:r>
              <a:rPr lang="en-US" sz="2000" dirty="0">
                <a:effectLst/>
              </a:rPr>
              <a:t>Summary infographic with icons for each capability</a:t>
            </a:r>
          </a:p>
          <a:p>
            <a:pPr marL="0" indent="0">
              <a:buNone/>
            </a:pPr>
            <a:endParaRPr lang="en-IN" sz="2000" b="1" dirty="0">
              <a:effectLst/>
            </a:endParaRPr>
          </a:p>
          <a:p>
            <a:endParaRPr lang="en-IN" sz="2000" b="1" dirty="0">
              <a:effectLst/>
            </a:endParaRPr>
          </a:p>
          <a:p>
            <a:endParaRPr lang="en-IN" sz="2000" b="1" dirty="0">
              <a:effectLst/>
            </a:endParaRPr>
          </a:p>
          <a:p>
            <a:endParaRPr lang="en-IN" sz="2000" b="1" dirty="0">
              <a:effectLst/>
            </a:endParaRPr>
          </a:p>
          <a:p>
            <a:pPr marL="0" indent="0">
              <a:buNone/>
            </a:pPr>
            <a:endParaRPr lang="en-IN" sz="2000" b="1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1087552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5D3FF-72F4-5B1D-A996-636E99151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effectLst/>
              </a:rPr>
              <a:t>Conclusion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62950-76D0-7F77-952C-D4D8FF9538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>
                <a:effectLst/>
              </a:rPr>
              <a:t>Key Takeaways</a:t>
            </a:r>
            <a:r>
              <a:rPr lang="en-IN" sz="2000" b="1" dirty="0">
                <a:effectLst/>
              </a:rPr>
              <a:t>: </a:t>
            </a:r>
            <a:r>
              <a:rPr lang="en-US" sz="2000" dirty="0">
                <a:effectLst/>
              </a:rPr>
              <a:t>Robust, production-ready platform for fraud detection, transactions, Customer 360, and risk reporting.</a:t>
            </a:r>
          </a:p>
          <a:p>
            <a:r>
              <a:rPr lang="en-IN" sz="2000" b="1" dirty="0">
                <a:effectLst/>
              </a:rPr>
              <a:t>Benefits: </a:t>
            </a:r>
            <a:r>
              <a:rPr lang="en-US" sz="2000" dirty="0">
                <a:effectLst/>
              </a:rPr>
              <a:t>High availability, advanced analytics, secure deployment</a:t>
            </a:r>
          </a:p>
          <a:p>
            <a:endParaRPr lang="en-IN" sz="2000" b="1" dirty="0">
              <a:effectLst/>
            </a:endParaRPr>
          </a:p>
          <a:p>
            <a:endParaRPr lang="en-US" sz="2000" dirty="0">
              <a:effectLst/>
            </a:endParaRPr>
          </a:p>
          <a:p>
            <a:endParaRPr lang="en-IN" sz="2000" dirty="0">
              <a:effectLst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292613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880</Words>
  <Application>Microsoft Office PowerPoint</Application>
  <PresentationFormat>Widescreen</PresentationFormat>
  <Paragraphs>116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Trebuchet MS</vt:lpstr>
      <vt:lpstr>Wingdings 3</vt:lpstr>
      <vt:lpstr>Facet</vt:lpstr>
      <vt:lpstr>Azure Bank Modernization Initiative: End-to-End Banking Data Platform </vt:lpstr>
      <vt:lpstr>Project Overview</vt:lpstr>
      <vt:lpstr>Business Objectives </vt:lpstr>
      <vt:lpstr>Technologies Utilized </vt:lpstr>
      <vt:lpstr>Day 1 - Architecture &amp; Data Ingestion Layer </vt:lpstr>
      <vt:lpstr>PowerPoint Presentation</vt:lpstr>
      <vt:lpstr>Day 2 –Transformation Layer and NoSQL operational Store </vt:lpstr>
      <vt:lpstr>Day 3 - Data Warehouse (Azure SQL)</vt:lpstr>
      <vt:lpstr>Day 4 - Real-Time Alerts &amp; CI/CD </vt:lpstr>
      <vt:lpstr>Day 5 - Reporting, Customer 360 &amp; Final Demo </vt:lpstr>
      <vt:lpstr>Final Output &amp; Platform Capabilities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SAMANTH BOMMISHETTI</dc:creator>
  <cp:lastModifiedBy>SAMANTH BOMMISHETTI</cp:lastModifiedBy>
  <cp:revision>1</cp:revision>
  <dcterms:created xsi:type="dcterms:W3CDTF">2025-12-10T12:00:39Z</dcterms:created>
  <dcterms:modified xsi:type="dcterms:W3CDTF">2025-12-10T12:01:35Z</dcterms:modified>
</cp:coreProperties>
</file>